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Kafka Architecture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474720" y="2834640"/>
            <a:ext cx="2194560" cy="73152"/>
          </a:xfrm>
          <a:prstGeom prst="rect">
            <a:avLst>
              <a:gd name="adj" fmla="val 50000"/>
            </a:avLst>
          </a:prstGeom>
          <a:solidFill>
            <a:srgbClr val="17A2B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Event Streaming Platform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Producers publish records to topic partitions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cluster stores and replicates data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groups read partitions in parallel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ZooKeeper / KRaft handles coordination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023360" y="91440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2E4053"/>
          </a:solidFill>
          <a:ln w="19050">
            <a:solidFill>
              <a:srgbClr val="17A2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0" y="9144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 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577840" y="91440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2E4053"/>
          </a:solidFill>
          <a:ln w="19050">
            <a:solidFill>
              <a:srgbClr val="17A2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9144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 B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132320" y="91440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2E4053"/>
          </a:solidFill>
          <a:ln w="19050">
            <a:solidFill>
              <a:srgbClr val="17A2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9144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 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023360" y="1417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7B8"/>
                </a:solidFill>
              </a:rPr>
              <a:t>▼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77840" y="1417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7B8"/>
                </a:solidFill>
              </a:rPr>
              <a:t>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2320" y="1417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7B8"/>
                </a:solidFill>
              </a:rPr>
              <a:t>▼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931920" y="1783080"/>
            <a:ext cx="4846320" cy="1371600"/>
          </a:xfrm>
          <a:prstGeom prst="roundRect">
            <a:avLst>
              <a:gd name="adj" fmla="val 8000"/>
            </a:avLst>
          </a:prstGeom>
          <a:solidFill>
            <a:srgbClr val="1A252F"/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Cluster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97680" y="219456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2E4053"/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21945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52160" y="219456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2E4053"/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0" y="21945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06640" y="219456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2E4053"/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0" y="21945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9496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39C12"/>
                </a:solidFill>
              </a:rPr>
              <a:t>⇄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4944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39C12"/>
                </a:solidFill>
              </a:rPr>
              <a:t>⇄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12480" y="21488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7B8"/>
                </a:solidFill>
              </a:rPr>
              <a:t>↔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29600" y="178308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2E4053"/>
          </a:solidFill>
          <a:ln w="19050">
            <a:solidFill>
              <a:srgbClr val="AAB7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0" y="17830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ZooKeeper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KRaft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023360" y="32004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7B8"/>
                </a:solidFill>
              </a:rPr>
              <a:t>▼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77840" y="32004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7B8"/>
                </a:solidFill>
              </a:rPr>
              <a:t>▼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32320" y="32004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7B8"/>
                </a:solidFill>
              </a:rPr>
              <a:t>▼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023360" y="356616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2E4053"/>
          </a:solidFill>
          <a:ln w="19050">
            <a:solidFill>
              <a:srgbClr val="58D68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3360" y="35661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D6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1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577840" y="356616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2E4053"/>
          </a:solidFill>
          <a:ln w="19050">
            <a:solidFill>
              <a:srgbClr val="58D68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0" y="35661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D6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132320" y="356616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2E4053"/>
          </a:solidFill>
          <a:ln w="19050">
            <a:solidFill>
              <a:srgbClr val="58D68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0" y="35661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D6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Topics &amp; Partitions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Topics are logical channels for events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Partitions enable parallel processing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partition is an ordered, append-only log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group members each read distinct partitions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868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Topic: orders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 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577840" y="1371600"/>
            <a:ext cx="594360" cy="365760"/>
          </a:xfrm>
          <a:prstGeom prst="roundRect">
            <a:avLst>
              <a:gd name="adj" fmla="val 15000"/>
            </a:avLst>
          </a:prstGeom>
          <a:solidFill>
            <a:srgbClr val="17A2B8"/>
          </a:solidFill>
          <a:ln/>
        </p:spPr>
      </p:sp>
      <p:sp>
        <p:nvSpPr>
          <p:cNvPr id="9" name="Text 7"/>
          <p:cNvSpPr/>
          <p:nvPr/>
        </p:nvSpPr>
        <p:spPr>
          <a:xfrm>
            <a:off x="5577840" y="137160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594360" cy="365760"/>
          </a:xfrm>
          <a:prstGeom prst="roundRect">
            <a:avLst/>
          </a:prstGeom>
          <a:solidFill>
            <a:srgbClr val="17A2B8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37160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58000" y="1371600"/>
            <a:ext cx="594360" cy="365760"/>
          </a:xfrm>
          <a:prstGeom prst="roundRect">
            <a:avLst/>
          </a:prstGeom>
          <a:solidFill>
            <a:srgbClr val="17A2B8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137160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98080" y="1371600"/>
            <a:ext cx="594360" cy="365760"/>
          </a:xfrm>
          <a:prstGeom prst="roundRect">
            <a:avLst/>
          </a:prstGeom>
          <a:solidFill>
            <a:srgbClr val="17A2B8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137160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138160" y="1371600"/>
            <a:ext cx="594360" cy="365760"/>
          </a:xfrm>
          <a:prstGeom prst="roundRect">
            <a:avLst>
              <a:gd name="adj" fmla="val 15000"/>
            </a:avLst>
          </a:prstGeom>
          <a:solidFill>
            <a:srgbClr val="17A2B8"/>
          </a:solidFill>
          <a:ln/>
        </p:spPr>
      </p:sp>
      <p:sp>
        <p:nvSpPr>
          <p:cNvPr id="17" name="Text 15"/>
          <p:cNvSpPr/>
          <p:nvPr/>
        </p:nvSpPr>
        <p:spPr>
          <a:xfrm>
            <a:off x="8138160" y="137160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0" y="2011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 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77840" y="2011680"/>
            <a:ext cx="594360" cy="365760"/>
          </a:xfrm>
          <a:prstGeom prst="roundRect">
            <a:avLst>
              <a:gd name="adj" fmla="val 15000"/>
            </a:avLst>
          </a:prstGeom>
          <a:solidFill>
            <a:srgbClr val="2E86C1"/>
          </a:solidFill>
          <a:ln/>
        </p:spPr>
      </p:sp>
      <p:sp>
        <p:nvSpPr>
          <p:cNvPr id="20" name="Text 18"/>
          <p:cNvSpPr/>
          <p:nvPr/>
        </p:nvSpPr>
        <p:spPr>
          <a:xfrm>
            <a:off x="5577840" y="201168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17920" y="2011680"/>
            <a:ext cx="594360" cy="365760"/>
          </a:xfrm>
          <a:prstGeom prst="roundRect">
            <a:avLst/>
          </a:prstGeom>
          <a:solidFill>
            <a:srgbClr val="2E86C1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201168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0" y="2011680"/>
            <a:ext cx="594360" cy="365760"/>
          </a:xfrm>
          <a:prstGeom prst="roundRect">
            <a:avLst/>
          </a:prstGeom>
          <a:solidFill>
            <a:srgbClr val="2E86C1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201168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498080" y="2011680"/>
            <a:ext cx="594360" cy="365760"/>
          </a:xfrm>
          <a:prstGeom prst="roundRect">
            <a:avLst/>
          </a:prstGeom>
          <a:solidFill>
            <a:srgbClr val="2E86C1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0" y="201168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011680"/>
            <a:ext cx="594360" cy="365760"/>
          </a:xfrm>
          <a:prstGeom prst="roundRect">
            <a:avLst>
              <a:gd name="adj" fmla="val 15000"/>
            </a:avLst>
          </a:prstGeom>
          <a:solidFill>
            <a:srgbClr val="2E86C1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01168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0" y="2651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 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77840" y="2651760"/>
            <a:ext cx="594360" cy="365760"/>
          </a:xfrm>
          <a:prstGeom prst="roundRect">
            <a:avLst>
              <a:gd name="adj" fmla="val 15000"/>
            </a:avLst>
          </a:prstGeom>
          <a:solidFill>
            <a:srgbClr val="1ABC9C"/>
          </a:solidFill>
          <a:ln/>
        </p:spPr>
      </p:sp>
      <p:sp>
        <p:nvSpPr>
          <p:cNvPr id="31" name="Text 29"/>
          <p:cNvSpPr/>
          <p:nvPr/>
        </p:nvSpPr>
        <p:spPr>
          <a:xfrm>
            <a:off x="5577840" y="265176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2651760"/>
            <a:ext cx="594360" cy="365760"/>
          </a:xfrm>
          <a:prstGeom prst="roundRect">
            <a:avLst/>
          </a:prstGeom>
          <a:solidFill>
            <a:srgbClr val="1ABC9C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0" y="265176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58000" y="2651760"/>
            <a:ext cx="594360" cy="365760"/>
          </a:xfrm>
          <a:prstGeom prst="roundRect">
            <a:avLst/>
          </a:prstGeom>
          <a:solidFill>
            <a:srgbClr val="1ABC9C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0" y="265176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498080" y="2651760"/>
            <a:ext cx="594360" cy="365760"/>
          </a:xfrm>
          <a:prstGeom prst="roundRect">
            <a:avLst/>
          </a:prstGeom>
          <a:solidFill>
            <a:srgbClr val="1ABC9C"/>
          </a:solidFill>
          <a:ln/>
        </p:spPr>
      </p:sp>
      <p:sp>
        <p:nvSpPr>
          <p:cNvPr id="37" name="Text 35"/>
          <p:cNvSpPr/>
          <p:nvPr/>
        </p:nvSpPr>
        <p:spPr>
          <a:xfrm>
            <a:off x="7498080" y="265176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138160" y="2651760"/>
            <a:ext cx="594360" cy="365760"/>
          </a:xfrm>
          <a:prstGeom prst="roundRect">
            <a:avLst>
              <a:gd name="adj" fmla="val 15000"/>
            </a:avLst>
          </a:prstGeom>
          <a:solidFill>
            <a:srgbClr val="1ABC9C"/>
          </a:solidFill>
          <a:ln/>
        </p:spPr>
      </p:sp>
      <p:sp>
        <p:nvSpPr>
          <p:cNvPr id="39" name="Text 37"/>
          <p:cNvSpPr/>
          <p:nvPr/>
        </p:nvSpPr>
        <p:spPr>
          <a:xfrm>
            <a:off x="8138160" y="265176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77840" y="3383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8D6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Consumer 1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675120" y="3383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8D6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Consumer 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772400" y="3383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8D6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Consumer 3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74320" y="3840480"/>
            <a:ext cx="8595360" cy="18288"/>
          </a:xfrm>
          <a:prstGeom prst="rect">
            <a:avLst/>
          </a:prstGeom>
          <a:solidFill>
            <a:srgbClr val="2E4053"/>
          </a:solidFill>
          <a:ln/>
        </p:spPr>
      </p:sp>
      <p:sp>
        <p:nvSpPr>
          <p:cNvPr id="44" name="Shape 42"/>
          <p:cNvSpPr/>
          <p:nvPr/>
        </p:nvSpPr>
        <p:spPr>
          <a:xfrm>
            <a:off x="1371600" y="402336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2E4053"/>
          </a:solidFill>
          <a:ln/>
        </p:spPr>
      </p:sp>
      <p:sp>
        <p:nvSpPr>
          <p:cNvPr id="45" name="Shape 43"/>
          <p:cNvSpPr/>
          <p:nvPr/>
        </p:nvSpPr>
        <p:spPr>
          <a:xfrm>
            <a:off x="1371600" y="4069080"/>
            <a:ext cx="54864" cy="6400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6" name="Text 44"/>
          <p:cNvSpPr/>
          <p:nvPr/>
        </p:nvSpPr>
        <p:spPr>
          <a:xfrm>
            <a:off x="1508760" y="4023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1508760" y="44348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931920" y="402336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2E4053"/>
          </a:solidFill>
          <a:ln/>
        </p:spPr>
      </p:sp>
      <p:sp>
        <p:nvSpPr>
          <p:cNvPr id="49" name="Shape 47"/>
          <p:cNvSpPr/>
          <p:nvPr/>
        </p:nvSpPr>
        <p:spPr>
          <a:xfrm>
            <a:off x="3931920" y="4069080"/>
            <a:ext cx="54864" cy="6400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0" name="Text 48"/>
          <p:cNvSpPr/>
          <p:nvPr/>
        </p:nvSpPr>
        <p:spPr>
          <a:xfrm>
            <a:off x="4069080" y="4023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4069080" y="44348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492240" y="402336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2E4053"/>
          </a:solidFill>
          <a:ln/>
        </p:spPr>
      </p:sp>
      <p:sp>
        <p:nvSpPr>
          <p:cNvPr id="53" name="Shape 51"/>
          <p:cNvSpPr/>
          <p:nvPr/>
        </p:nvSpPr>
        <p:spPr>
          <a:xfrm>
            <a:off x="6492240" y="4069080"/>
            <a:ext cx="54864" cy="6400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4" name="Text 52"/>
          <p:cNvSpPr/>
          <p:nvPr/>
        </p:nvSpPr>
        <p:spPr>
          <a:xfrm>
            <a:off x="6629400" y="4023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6629400" y="44348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Apache Kafka Architecture</dc:title>
  <dc:subject>PptxGenJS Presentation</dc:subject>
  <dc:creator>PptxGenJS</dc:creator>
  <cp:lastModifiedBy>PptxGenJS</cp:lastModifiedBy>
  <cp:revision>1</cp:revision>
  <dcterms:created xsi:type="dcterms:W3CDTF">2026-02-28T11:48:57Z</dcterms:created>
  <dcterms:modified xsi:type="dcterms:W3CDTF">2026-02-28T11:48:57Z</dcterms:modified>
</cp:coreProperties>
</file>