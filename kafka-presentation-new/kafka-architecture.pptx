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Kafka Architecture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Event Streaming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097280" cy="54864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7A2B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records to topic partitions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Cluster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and replicates data across nodes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partitions in parallel for throughput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 / ZooKeeper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metadata and coordination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51960" y="1097280"/>
            <a:ext cx="1051560" cy="411480"/>
          </a:xfrm>
          <a:prstGeom prst="rect">
            <a:avLst/>
          </a:prstGeom>
          <a:solidFill>
            <a:srgbClr val="2E4053"/>
          </a:solidFill>
          <a:ln w="1905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51960" y="10972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32120" y="1097280"/>
            <a:ext cx="1051560" cy="411480"/>
          </a:xfrm>
          <a:prstGeom prst="rect">
            <a:avLst/>
          </a:prstGeom>
          <a:solidFill>
            <a:srgbClr val="2E4053"/>
          </a:solidFill>
          <a:ln w="1905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532120" y="10972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12280" y="1097280"/>
            <a:ext cx="1051560" cy="411480"/>
          </a:xfrm>
          <a:prstGeom prst="rect">
            <a:avLst/>
          </a:prstGeom>
          <a:solidFill>
            <a:srgbClr val="2E4053"/>
          </a:solidFill>
          <a:ln w="1905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12280" y="10972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77740" y="1508760"/>
            <a:ext cx="0" cy="502920"/>
          </a:xfrm>
          <a:prstGeom prst="line">
            <a:avLst/>
          </a:prstGeom>
          <a:noFill/>
          <a:ln w="19050">
            <a:solidFill>
              <a:srgbClr val="17A2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57900" y="1508760"/>
            <a:ext cx="0" cy="502920"/>
          </a:xfrm>
          <a:prstGeom prst="line">
            <a:avLst/>
          </a:prstGeom>
          <a:noFill/>
          <a:ln w="19050">
            <a:solidFill>
              <a:srgbClr val="17A2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38060" y="1508760"/>
            <a:ext cx="0" cy="502920"/>
          </a:xfrm>
          <a:prstGeom prst="line">
            <a:avLst/>
          </a:prstGeom>
          <a:noFill/>
          <a:ln w="19050">
            <a:solidFill>
              <a:srgbClr val="17A2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0" y="2011680"/>
            <a:ext cx="3657600" cy="1645920"/>
          </a:xfrm>
          <a:prstGeom prst="rect">
            <a:avLst/>
          </a:prstGeom>
          <a:solidFill>
            <a:srgbClr val="2E4053">
              <a:alpha val="70000"/>
            </a:srgbClr>
          </a:solidFill>
          <a:ln w="25400">
            <a:solidFill>
              <a:srgbClr val="17A2B8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1148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Broker Cluster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91940" y="2468880"/>
            <a:ext cx="1051560" cy="822960"/>
          </a:xfrm>
          <a:prstGeom prst="rect">
            <a:avLst/>
          </a:prstGeom>
          <a:solidFill>
            <a:srgbClr val="253545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91940" y="24688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1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17820" y="2468880"/>
            <a:ext cx="1051560" cy="822960"/>
          </a:xfrm>
          <a:prstGeom prst="rect">
            <a:avLst/>
          </a:prstGeom>
          <a:solidFill>
            <a:srgbClr val="253545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17820" y="24688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2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43700" y="2468880"/>
            <a:ext cx="1051560" cy="822960"/>
          </a:xfrm>
          <a:prstGeom prst="rect">
            <a:avLst/>
          </a:prstGeom>
          <a:solidFill>
            <a:srgbClr val="253545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43700" y="24688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3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43500" y="2807208"/>
            <a:ext cx="27432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43500" y="2880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469380" y="2807208"/>
            <a:ext cx="27432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dash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69380" y="28803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955280" y="2286000"/>
            <a:ext cx="777240" cy="1097280"/>
          </a:xfrm>
          <a:prstGeom prst="rect">
            <a:avLst/>
          </a:prstGeom>
          <a:solidFill>
            <a:srgbClr val="2E4053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0" y="228600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ZooKeeper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0" y="2834640"/>
            <a:ext cx="182880" cy="0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3657600"/>
            <a:ext cx="0" cy="502920"/>
          </a:xfrm>
          <a:prstGeom prst="line">
            <a:avLst/>
          </a:prstGeom>
          <a:noFill/>
          <a:ln w="19050">
            <a:solidFill>
              <a:srgbClr val="17A2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35040" y="3657600"/>
            <a:ext cx="0" cy="502920"/>
          </a:xfrm>
          <a:prstGeom prst="line">
            <a:avLst/>
          </a:prstGeom>
          <a:noFill/>
          <a:ln w="19050">
            <a:solidFill>
              <a:srgbClr val="17A2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32320" y="3657600"/>
            <a:ext cx="0" cy="502920"/>
          </a:xfrm>
          <a:prstGeom prst="line">
            <a:avLst/>
          </a:prstGeom>
          <a:noFill/>
          <a:ln w="19050">
            <a:solidFill>
              <a:srgbClr val="17A2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114800" y="4160520"/>
            <a:ext cx="3657600" cy="594360"/>
          </a:xfrm>
          <a:prstGeom prst="rect">
            <a:avLst/>
          </a:prstGeom>
          <a:solidFill>
            <a:srgbClr val="2E4053">
              <a:alpha val="50000"/>
            </a:srgbClr>
          </a:solidFill>
          <a:ln w="12700">
            <a:solidFill>
              <a:srgbClr val="17A2B8"/>
            </a:solidFill>
            <a:prstDash val="dot"/>
          </a:ln>
        </p:spPr>
      </p:sp>
      <p:sp>
        <p:nvSpPr>
          <p:cNvPr id="33" name="Text 31"/>
          <p:cNvSpPr/>
          <p:nvPr/>
        </p:nvSpPr>
        <p:spPr>
          <a:xfrm>
            <a:off x="4114800" y="40233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4206240"/>
            <a:ext cx="1005840" cy="411480"/>
          </a:xfrm>
          <a:prstGeom prst="rect">
            <a:avLst/>
          </a:prstGeom>
          <a:solidFill>
            <a:srgbClr val="2E4053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43484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32120" y="4206240"/>
            <a:ext cx="1005840" cy="411480"/>
          </a:xfrm>
          <a:prstGeom prst="rect">
            <a:avLst/>
          </a:prstGeom>
          <a:solidFill>
            <a:srgbClr val="2E4053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3212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4206240"/>
            <a:ext cx="1005840" cy="411480"/>
          </a:xfrm>
          <a:prstGeom prst="rect">
            <a:avLst/>
          </a:prstGeom>
          <a:solidFill>
            <a:srgbClr val="2E4053"/>
          </a:solidFill>
          <a:ln w="12700">
            <a:solidFill>
              <a:srgbClr val="17A2B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629400" y="4206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&amp; Partitions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371600" cy="36576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Channels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are named feeds of records. Producers write to topics; consumers read from them.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topic is split into partitions. Multiple consumers read different partitions simultaneously.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Append-Only Logs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partition is an immutable, ordered sequence of records identified by offsets.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Assignment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consumer in a group reads from distinct partitions, ensuring no duplicate processing.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51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orders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54880" y="1627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450342" cy="502920"/>
          </a:xfrm>
          <a:prstGeom prst="rect">
            <a:avLst/>
          </a:prstGeom>
          <a:solidFill>
            <a:srgbClr val="17A2B8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23510" y="1828800"/>
            <a:ext cx="450342" cy="502920"/>
          </a:xfrm>
          <a:prstGeom prst="rect">
            <a:avLst/>
          </a:prstGeom>
          <a:solidFill>
            <a:srgbClr val="17A2B8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2351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92140" y="1828800"/>
            <a:ext cx="450342" cy="502920"/>
          </a:xfrm>
          <a:prstGeom prst="rect">
            <a:avLst/>
          </a:prstGeom>
          <a:solidFill>
            <a:srgbClr val="17A2B8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214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0770" y="1828800"/>
            <a:ext cx="450342" cy="502920"/>
          </a:xfrm>
          <a:prstGeom prst="rect">
            <a:avLst/>
          </a:prstGeom>
          <a:solidFill>
            <a:srgbClr val="17A2B8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077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828800"/>
            <a:ext cx="450342" cy="502920"/>
          </a:xfrm>
          <a:prstGeom prst="rect">
            <a:avLst/>
          </a:prstGeom>
          <a:solidFill>
            <a:srgbClr val="17A2B8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98030" y="1828800"/>
            <a:ext cx="450342" cy="502920"/>
          </a:xfrm>
          <a:prstGeom prst="rect">
            <a:avLst/>
          </a:prstGeom>
          <a:solidFill>
            <a:srgbClr val="17A2B8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9803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66660" y="1828800"/>
            <a:ext cx="450342" cy="502920"/>
          </a:xfrm>
          <a:prstGeom prst="rect">
            <a:avLst/>
          </a:prstGeom>
          <a:solidFill>
            <a:srgbClr val="2E4053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666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35290" y="1828800"/>
            <a:ext cx="450342" cy="502920"/>
          </a:xfrm>
          <a:prstGeom prst="rect">
            <a:avLst/>
          </a:prstGeom>
          <a:solidFill>
            <a:srgbClr val="2E4053"/>
          </a:solidFill>
          <a:ln w="6350">
            <a:solidFill>
              <a:srgbClr val="17A2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35290" y="1828800"/>
            <a:ext cx="4503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3500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2587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606552" cy="502920"/>
          </a:xfrm>
          <a:prstGeom prst="rect">
            <a:avLst/>
          </a:prstGeom>
          <a:solidFill>
            <a:srgbClr val="1ABC9C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788920"/>
            <a:ext cx="60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79720" y="2788920"/>
            <a:ext cx="606552" cy="502920"/>
          </a:xfrm>
          <a:prstGeom prst="rect">
            <a:avLst/>
          </a:prstGeom>
          <a:solidFill>
            <a:srgbClr val="1ABC9C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79720" y="2788920"/>
            <a:ext cx="60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04560" y="2788920"/>
            <a:ext cx="606552" cy="502920"/>
          </a:xfrm>
          <a:prstGeom prst="rect">
            <a:avLst/>
          </a:prstGeom>
          <a:solidFill>
            <a:srgbClr val="1ABC9C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04560" y="2788920"/>
            <a:ext cx="60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2788920"/>
            <a:ext cx="606552" cy="502920"/>
          </a:xfrm>
          <a:prstGeom prst="rect">
            <a:avLst/>
          </a:prstGeom>
          <a:solidFill>
            <a:srgbClr val="1ABC9C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2788920"/>
            <a:ext cx="60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54240" y="2788920"/>
            <a:ext cx="606552" cy="502920"/>
          </a:xfrm>
          <a:prstGeom prst="rect">
            <a:avLst/>
          </a:prstGeom>
          <a:solidFill>
            <a:srgbClr val="2E4053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54240" y="2788920"/>
            <a:ext cx="60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879080" y="2788920"/>
            <a:ext cx="606552" cy="502920"/>
          </a:xfrm>
          <a:prstGeom prst="rect">
            <a:avLst/>
          </a:prstGeom>
          <a:solidFill>
            <a:srgbClr val="2E4053"/>
          </a:solidFill>
          <a:ln w="6350">
            <a:solidFill>
              <a:srgbClr val="1ABC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79080" y="2788920"/>
            <a:ext cx="606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35478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7144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7144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8800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8800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0456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0456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2112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112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3768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768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254240" y="3749040"/>
            <a:ext cx="398272" cy="502920"/>
          </a:xfrm>
          <a:prstGeom prst="rect">
            <a:avLst/>
          </a:prstGeom>
          <a:solidFill>
            <a:srgbClr val="2ECC71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5424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0800" y="3749040"/>
            <a:ext cx="398272" cy="502920"/>
          </a:xfrm>
          <a:prstGeom prst="rect">
            <a:avLst/>
          </a:prstGeom>
          <a:solidFill>
            <a:srgbClr val="2E4053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080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087360" y="3749040"/>
            <a:ext cx="398272" cy="502920"/>
          </a:xfrm>
          <a:prstGeom prst="rect">
            <a:avLst/>
          </a:prstGeom>
          <a:solidFill>
            <a:srgbClr val="2E4053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87360" y="3749040"/>
            <a:ext cx="398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754880" y="4270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Kafka Architecture</dc:title>
  <dc:subject>PptxGenJS Presentation</dc:subject>
  <dc:creator>Claude</dc:creator>
  <cp:lastModifiedBy>Claude</cp:lastModifiedBy>
  <cp:revision>1</cp:revision>
  <dcterms:created xsi:type="dcterms:W3CDTF">2026-02-28T14:52:17Z</dcterms:created>
  <dcterms:modified xsi:type="dcterms:W3CDTF">2026-02-28T14:52:17Z</dcterms:modified>
</cp:coreProperties>
</file>